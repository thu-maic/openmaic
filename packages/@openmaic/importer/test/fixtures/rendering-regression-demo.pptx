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6c003f382f487f" /><Relationship Type="http://schemas.openxmlformats.org/officeDocument/2006/relationships/extended-properties" Target="/docProps/app.xml" Id="R4440d288e1404ae0" /><Relationship Type="http://schemas.openxmlformats.org/officeDocument/2006/relationships/officeDocument" Target="/ppt/presentation.xml" Id="R5aa985d78ff846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fbab447950477f"/>
  </p:sldMasterIdLst>
  <p:notesMasterIdLst>
    <p:notesMasterId xmlns:r="http://schemas.openxmlformats.org/officeDocument/2006/relationships" r:id="R28fbd754429644d7"/>
  </p:notesMasterIdLst>
  <p:sldIdLst>
    <p:sldId xmlns:r="http://schemas.openxmlformats.org/officeDocument/2006/relationships" id="256" r:id="R5438c778ca6f44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9eefef1f754886" /><Relationship Type="http://schemas.openxmlformats.org/officeDocument/2006/relationships/slideMaster" Target="/ppt/slideMasters/slideMaster1.xml" Id="R74fbab447950477f" /><Relationship Type="http://schemas.openxmlformats.org/officeDocument/2006/relationships/notesMaster" Target="/ppt/notesMasters/notesMaster1.xml" Id="R28fbd754429644d7" /><Relationship Type="http://schemas.openxmlformats.org/officeDocument/2006/relationships/presProps" Target="/ppt/presProps.xml" Id="Rf6cc49942d034f24" /><Relationship Type="http://schemas.openxmlformats.org/officeDocument/2006/relationships/tableStyles" Target="/ppt/tableStyles.xml" Id="Rdb354d137f1e4778" /><Relationship Type="http://schemas.openxmlformats.org/officeDocument/2006/relationships/slide" Target="/ppt/slides/slide1.xml" Id="R5438c778ca6f44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f699b71b4343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997157febc49e5" /><Relationship Type="http://schemas.openxmlformats.org/officeDocument/2006/relationships/notesMaster" Target="/ppt/notesMasters/notesMaster1.xml" Id="R9bfbb849e0ee461e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Regression fixture. The three colored labels use round2DiagRect with adj1=42648 and adj2=0. Each native table cell begins with a centered 24pt heading followed by left-aligned 18pt body text. The footer exposes unwanted table growth. For the alignment comparison, enter text editing in the top-left table cell. Use this identical PPTX in the pre-fix and post-fix application builds. The bottom-right cell intentionally retains the original Chinese phrase (English meaning: When are you most active?) because the import-only hanging-punctuation recovery is restricted to short CJK text. Its original column width, 20pt text, 5.4pt side margins and hangingPunct=1 are preserved. Before the fix it wraps; after the fix it stays on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6258cc9fec47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dbce2ecf8244d9" /><Relationship Type="http://schemas.openxmlformats.org/officeDocument/2006/relationships/slideLayout" Target="/ppt/slideLayouts/slideLayout1.xml" Id="R3ee3efc983d44a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e3efc983d44a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0bface69c4c44" /><Relationship Type="http://schemas.openxmlformats.org/officeDocument/2006/relationships/notesSlide" Target="/ppt/notesSlides/notesSlide1.xml" Id="Rf41ee72e8b1240b6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">
            <a:extLst>
              <a:ext uri="{FF2B5EF4-FFF2-40B4-BE49-F238E27FC236}">
                <ns2:creationId id="{B3994B4E-6DCF-426C-9A35-FDD203F509A0}"/>
              </a:ext>
            </a:extLst>
          </p:cNvPr>
          <p:cNvSpPr>
            <a:spLocks noGrp="1"/>
          </p:cNvSpPr>
          <p:nvPr/>
        </p:nvSpPr>
        <p:spPr>
          <a:xfrm>
            <a:off x="571500" y="333375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PPTX rendering regression sample</a:t>
            </a:r>
          </a:p>
        </p:txBody>
      </p:sp>
      <p:sp>
        <p:nvSpPr>
          <p:cNvPr id="2" name="">
            <a:extLst>
              <a:ext uri="{FF2B5EF4-FFF2-40B4-BE49-F238E27FC236}">
                <ns2:creationId id="{586EF4CF-647C-4AB9-9B05-E2A82402B9C3}"/>
              </a:ext>
            </a:extLst>
          </p:cNvPr>
          <p:cNvSpPr>
            <a:spLocks noGrp="1"/>
          </p:cNvSpPr>
          <p:nvPr/>
        </p:nvSpPr>
        <p:spPr>
          <a:xfrm>
            <a:off x="571500" y="98107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One slide to compare geometry, text sizing and editing alignment</a:t>
            </a:r>
          </a:p>
        </p:txBody>
      </p:sp>
      <p:sp>
        <p:nvSpPr>
          <p:cNvPr id="3" name="">
            <a:extLst>
              <a:ext uri="{FF2B5EF4-FFF2-40B4-BE49-F238E27FC236}">
                <ns2:creationId id="{D5CCADD3-2A7D-4C64-9530-3EE7EB3AE8B3}"/>
              </a:ext>
            </a:extLst>
          </p:cNvPr>
          <p:cNvSpPr>
            <a:spLocks noGrp="1"/>
          </p:cNvSpPr>
          <p:nvPr/>
        </p:nvSpPr>
        <p:spPr>
          <a:xfrm>
            <a:off x="571500" y="6124575"/>
            <a:ext cx="7810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This note should remain below the table.</a:t>
            </a:r>
          </a:p>
        </p:txBody>
      </p:sp>
      <p:sp>
        <p:nvSpPr>
          <p:cNvPr id="101" name="Diagonal rounded label 101"/>
          <p:cNvSpPr/>
          <p:nvPr/>
        </p:nvSpPr>
        <p:spPr>
          <a:xfrm>
            <a:off x="571500" y="1571625"/>
            <a:ext cx="3429000" cy="571500"/>
          </a:xfrm>
          <a:prstGeom prst="round2DiagRect">
            <a:avLst>
              <a:gd name="adj1" fmla="val 42648"/>
              <a:gd name="adj2" fmla="val 0"/>
            </a:avLst>
          </a:prstGeom>
          <a:solidFill>
            <a:srgbClr val="853886"/>
          </a:solidFill>
          <a:ln>
            <a:noFill/>
          </a:ln>
        </p:spPr>
        <p:txBody>
          <a:bodyPr anchor="ctr" lIns="91440" rIns="9144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FFFFFF"/>
                </a:solidFill>
                <a:latin typeface="Arial"/>
              </a:rPr>
              <a:t>Diagonal corners</a:t>
            </a:r>
            <a:endParaRPr sz="2000"/>
          </a:p>
        </p:txBody>
      </p:sp>
      <p:sp>
        <p:nvSpPr>
          <p:cNvPr id="102" name="Diagonal rounded label 102"/>
          <p:cNvSpPr/>
          <p:nvPr/>
        </p:nvSpPr>
        <p:spPr>
          <a:xfrm>
            <a:off x="4381500" y="1571625"/>
            <a:ext cx="3429000" cy="571500"/>
          </a:xfrm>
          <a:prstGeom prst="round2DiagRect">
            <a:avLst>
              <a:gd name="adj1" fmla="val 42648"/>
              <a:gd name="adj2" fmla="val 0"/>
            </a:avLst>
          </a:prstGeom>
          <a:solidFill>
            <a:srgbClr val="EE8052"/>
          </a:solidFill>
          <a:ln>
            <a:noFill/>
          </a:ln>
        </p:spPr>
        <p:txBody>
          <a:bodyPr anchor="ctr" lIns="91440" rIns="9144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FFFFFF"/>
                </a:solidFill>
                <a:latin typeface="Arial"/>
              </a:rPr>
              <a:t>Mixed text sizes</a:t>
            </a:r>
            <a:endParaRPr sz="2000"/>
          </a:p>
        </p:txBody>
      </p:sp>
      <p:sp>
        <p:nvSpPr>
          <p:cNvPr id="103" name="Diagonal rounded label 103"/>
          <p:cNvSpPr/>
          <p:nvPr/>
        </p:nvSpPr>
        <p:spPr>
          <a:xfrm>
            <a:off x="8191500" y="1571625"/>
            <a:ext cx="3429000" cy="571500"/>
          </a:xfrm>
          <a:prstGeom prst="round2DiagRect">
            <a:avLst>
              <a:gd name="adj1" fmla="val 42648"/>
              <a:gd name="adj2" fmla="val 0"/>
            </a:avLst>
          </a:prstGeom>
          <a:solidFill>
            <a:srgbClr val="218780"/>
          </a:solidFill>
          <a:ln>
            <a:noFill/>
          </a:ln>
        </p:spPr>
        <p:txBody>
          <a:bodyPr anchor="ctr" lIns="91440" rIns="9144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FFFFFF"/>
                </a:solidFill>
                <a:latin typeface="Arial"/>
              </a:rPr>
              <a:t>Paragraph alignment</a:t>
            </a:r>
            <a:endParaRPr sz="2000"/>
          </a:p>
        </p:txBody>
      </p:sp>
      <p:graphicFrame>
        <p:nvGraphicFramePr>
          <p:cNvPr id="104" name="Mixed typography and alignment table"/>
          <p:cNvGraphicFramePr/>
          <p:nvPr/>
        </p:nvGraphicFramePr>
        <p:xfrm>
          <a:off x="571500" y="2571750"/>
          <a:ext cx="11049000" cy="3238500"/>
        </p:xfrm>
        <a:graphic>
          <a:graphicData uri="http://schemas.openxmlformats.org/drawingml/2006/table">
            <a:tbl>
              <a:tblPr/>
              <a:tblGrid>
                <a:gridCol w="5524500"/>
                <a:gridCol w="5524500"/>
              </a:tblGrid>
              <a:tr h="16192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853886"/>
                          </a:solidFill>
                          <a:latin typeface="Arial"/>
                        </a:rPr>
                        <a:t>Focus now</a:t>
                      </a:r>
                      <a:endParaRPr sz="24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172033"/>
                          </a:solidFill>
                          <a:latin typeface="Arial"/>
                        </a:rPr>
                        <a:t>1. Finish the project brief before Friday.</a:t>
                      </a:r>
                      <a:endParaRPr sz="18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172033"/>
                          </a:solidFill>
                          <a:latin typeface="Arial"/>
                        </a:rPr>
                        <a:t>2. Review the budget with your team.</a:t>
                      </a:r>
                      <a:endParaRPr sz="18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172033"/>
                          </a:solidFill>
                          <a:latin typeface="Arial"/>
                        </a:rPr>
                        <a:t>3. Confirm the next milestone and owner.</a:t>
                      </a:r>
                      <a:endParaRPr sz="1800"/>
                    </a:p>
                  </a:txBody>
                  <a:tcPr marL="91440" marR="91440" marT="45720" marB="45720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853886"/>
                          </a:solidFill>
                          <a:latin typeface="Arial"/>
                        </a:rPr>
                        <a:t>Plan ahead</a:t>
                      </a:r>
                      <a:endParaRPr sz="24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172033"/>
                          </a:solidFill>
                          <a:latin typeface="Arial"/>
                        </a:rPr>
                        <a:t>1. Reserve time for focused work each day.</a:t>
                      </a:r>
                      <a:endParaRPr sz="18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172033"/>
                          </a:solidFill>
                          <a:latin typeface="Arial"/>
                        </a:rPr>
                        <a:t>2. Build skills through regular practice.</a:t>
                      </a:r>
                      <a:endParaRPr sz="18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172033"/>
                          </a:solidFill>
                          <a:latin typeface="Arial"/>
                        </a:rPr>
                        <a:t>3. Review long-term goals every month.</a:t>
                      </a:r>
                      <a:endParaRPr sz="1800"/>
                    </a:p>
                  </a:txBody>
                  <a:tcPr marL="91440" marR="91440" marT="45720" marB="45720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16192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853886"/>
                          </a:solidFill>
                          <a:latin typeface="Arial"/>
                        </a:rPr>
                        <a:t>Keep it simple</a:t>
                      </a:r>
                      <a:endParaRPr sz="24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172033"/>
                          </a:solidFill>
                          <a:latin typeface="Arial"/>
                        </a:rPr>
                        <a:t>1. Group routine requests into one list.</a:t>
                      </a:r>
                      <a:endParaRPr sz="18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172033"/>
                          </a:solidFill>
                          <a:latin typeface="Arial"/>
                        </a:rPr>
                        <a:t>2. Reply to short messages in one batch.</a:t>
                      </a:r>
                      <a:endParaRPr sz="18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172033"/>
                          </a:solidFill>
                          <a:latin typeface="Arial"/>
                        </a:rPr>
                        <a:t>3. Delegate tasks with a clear deadline.</a:t>
                      </a:r>
                      <a:endParaRPr sz="1800"/>
                    </a:p>
                  </a:txBody>
                  <a:tcPr marL="91440" marR="91440" marT="45720" marB="45720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853886"/>
                          </a:solidFill>
                          <a:latin typeface="Arial"/>
                        </a:rPr>
                        <a:t>Protect your time</a:t>
                      </a:r>
                      <a:endParaRPr sz="24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172033"/>
                          </a:solidFill>
                          <a:latin typeface="Arial"/>
                        </a:rPr>
                        <a:t>1. Pause notifications during focus time.</a:t>
                      </a:r>
                      <a:endParaRPr sz="18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172033"/>
                          </a:solidFill>
                          <a:latin typeface="Arial"/>
                        </a:rPr>
                        <a:t>2. Decline meetings without an agenda.</a:t>
                      </a:r>
                      <a:endParaRPr sz="18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172033"/>
                          </a:solidFill>
                          <a:latin typeface="Arial"/>
                        </a:rPr>
                        <a:t>3. Leave space for rest and reflection.</a:t>
                      </a:r>
                      <a:endParaRPr sz="1800"/>
                    </a:p>
                  </a:txBody>
                  <a:tcPr marL="91440" marR="91440" marT="45720" marB="45720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5" name="Punctuation wrapping caption">
            <a:extLst>
              <a:ext uri="{FF2B5EF4-FFF2-40B4-BE49-F238E27FC236}">
                <ns2:creationId id="{D5CCADD3-2A7D-4C64-9530-3EE7EB3AE8B3}"/>
              </a:ext>
            </a:extLst>
          </p:cNvPr>
          <p:cNvSpPr>
            <a:spLocks noGrp="1"/>
          </p:cNvSpPr>
          <p:nvPr/>
        </p:nvSpPr>
        <p:spPr>
          <a:xfrm>
            <a:off x="9077325" y="582930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Punctuation wrap (import only)</a:t>
            </a:r>
          </a:p>
        </p:txBody>
      </p:sp>
      <p:graphicFrame>
        <p:nvGraphicFramePr>
          <p:cNvPr id="106" name="Imported punctuation regression"/>
          <p:cNvGraphicFramePr/>
          <p:nvPr/>
        </p:nvGraphicFramePr>
        <p:xfrm>
          <a:off x="9229725" y="6134100"/>
          <a:ext cx="2390734" cy="419100"/>
        </p:xfrm>
        <a:graphic>
          <a:graphicData uri="http://schemas.openxmlformats.org/drawingml/2006/table">
            <a:tbl>
              <a:tblPr/>
              <a:tblGrid>
                <a:gridCol w="2390734"/>
              </a:tblGrid>
              <a:tr h="4191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你的活动高峰时间？</a:t>
                      </a:r>
                      <a:endParaRPr lang="zh-CN" altLang="zh-CN" sz="2000" b="1" kern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ns3:creationId val="1673206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2026-09-18T07:22:35.7480000Z</dcterms:created>
  <dcterms:modified xsi:type="dcterms:W3CDTF">2026-09-18T07:22:35.7480000Z</dcterms:modified>
</coreProperties>
</file>